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 showGuides="1">
      <p:cViewPr varScale="1">
        <p:scale>
          <a:sx n="147" d="100"/>
          <a:sy n="147" d="100"/>
        </p:scale>
        <p:origin x="182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AC936-538C-5651-4FDB-61C420140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AC37A1-2DCE-D2F7-6F1B-639F4D77A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3AD70-DBDD-F213-A66F-784F43386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341DA-CACF-4459-B113-34B82067402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207A7-7CB4-202A-AE92-7656A4460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5E3B3-2469-60B7-FA53-69394352B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327-881C-4072-BE2C-E8BEC8EF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361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44758-BB7A-7BBA-BE00-402AE28BC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EBC80-E245-3709-7FB8-1BC309E3C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18827-AA7E-00B2-4ED4-3E5FB86A6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341DA-CACF-4459-B113-34B82067402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3F0DC-E093-7DCB-7DBB-35CDDBE5F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23155-6124-8BCE-DB51-C9CFB7C1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327-881C-4072-BE2C-E8BEC8EF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927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D24EC-A28A-4E46-9763-7AC8F9892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4FEEF-9033-1F3E-E384-C037BA415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328AF-9E16-CEC1-52AA-8CB1A6A9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341DA-CACF-4459-B113-34B82067402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BE60B-FF11-8F96-995C-AE3969687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9CCBC-655A-7DB9-C94D-9A2C74CE5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327-881C-4072-BE2C-E8BEC8EF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73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9C1BE-50B5-25B4-6199-4ABE28C36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D350F-2185-E07A-2503-5AA6F1D92B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D93BA-C217-F898-499D-DBA0816E8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911F9-A27B-CAF5-DE31-463F35FF2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341DA-CACF-4459-B113-34B82067402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1BA1A-ADB5-9D12-1E3D-B1A667DA0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D0B7D-F3E4-3AF1-F435-BCA57AF24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327-881C-4072-BE2C-E8BEC8EF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870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032B6-9DE9-0F57-51DC-E93B027F5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7F0D5-E108-D786-A626-40EA999CF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0FAF5-1E15-CFA8-3300-2E0DB41C8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2EB8C0-342D-A7E9-C963-7844928EC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6260FE-6C45-4EBB-6D11-0E0BB896C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32D6ED-363B-7134-C70E-D0435408A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341DA-CACF-4459-B113-34B82067402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616957-CE35-E509-1064-B631AB65B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17525D-6D6E-10C9-43FF-A8F2EBCED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327-881C-4072-BE2C-E8BEC8EF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11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1D68-2200-D67F-5F8F-998FF13AA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8728D-9330-C4E0-90DE-26D7A5AC5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341DA-CACF-4459-B113-34B82067402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7BC3D5-64A5-BDDB-58FD-C3C8FA88D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C48C02-AAB5-46C8-EE18-BF765040C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327-881C-4072-BE2C-E8BEC8EF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55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47EE83-A40D-C89A-2DD7-C3D3963A1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341DA-CACF-4459-B113-34B82067402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5AED80-0B0C-CA01-404C-77018F84F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2D3F1-58BD-84E3-D4A6-7B0B20834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327-881C-4072-BE2C-E8BEC8EF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64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537AB-D7B5-E0DA-BA4F-97C9415E5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6F3BA-8072-EE18-BA53-B1CEBED7A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606EE-C21F-45AF-BD81-0925322D4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F891F-AC56-ADE5-9B63-1E26D60BA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341DA-CACF-4459-B113-34B82067402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336F4-23C0-3DF7-E603-A350C02DB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BE32B-013E-EF07-CF44-A6E7C359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327-881C-4072-BE2C-E8BEC8EF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215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01D29-D3DE-F15B-D382-608A20379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7BD731-42BE-9754-185C-9C9EB4A081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6DEB8-D550-C26C-B3C0-0184252D4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C6145-B1D0-C38E-FF55-5E80BEF95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341DA-CACF-4459-B113-34B82067402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C3B57B-D4F4-0B81-96A4-B2281617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EB195-599E-A50E-6E0F-0BCCC027C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327-881C-4072-BE2C-E8BEC8EF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985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8A142-AE81-3B1F-FCD6-6AEE7BB03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48E53C-6751-7211-018A-A43795064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2E732-B1FD-BFA9-3D7A-CD06AAFB1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341DA-CACF-4459-B113-34B82067402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6DC3E-BF0E-96F4-FA2F-66197BB80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52BCE-5196-8E99-B701-395825470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327-881C-4072-BE2C-E8BEC8EF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894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687734-229C-E992-8756-D55B647E22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51CB2E-FC45-B349-A9A3-FA2B90D86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AE7B1-3BC5-A596-EF6F-98BCA00A8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341DA-CACF-4459-B113-34B82067402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09899-6835-7F8A-9A15-C5EC274CB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1A096-1097-9868-CDCE-59A7276D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F327-881C-4072-BE2C-E8BEC8EF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77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0FD76-70F2-1CA7-F7EE-B4368873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D14BD-2EA3-E478-6B6E-9DB4971D5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801D6-96AB-6CBB-6C6A-C5CF7C6AB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A341DA-CACF-4459-B113-34B82067402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F04D0-57BB-4242-A258-058913346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2B17C-62C1-0C0B-5E85-A57E82FE9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62F327-881C-4072-BE2C-E8BEC8EF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912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A8847-AE25-DB0E-8DDC-73CEA77FA4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CausaliT 4 Industry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881D9-27D4-7738-2F8E-700215427A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502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FE430-09B1-F0EE-0D66-9592D942D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HSIC(</a:t>
            </a:r>
            <a:r>
              <a:rPr lang="en-US" sz="2800" dirty="0" err="1"/>
              <a:t>X,m</a:t>
            </a:r>
            <a:r>
              <a:rPr lang="en-US" sz="2800" dirty="0"/>
              <a:t>) assuming Y=m*</a:t>
            </a:r>
            <a:r>
              <a:rPr lang="en-US" sz="2800" dirty="0" err="1"/>
              <a:t>n_cycle</a:t>
            </a:r>
            <a:r>
              <a:rPr lang="en-US" sz="2800" dirty="0"/>
              <a:t>, ds: "</a:t>
            </a:r>
            <a:r>
              <a:rPr lang="en-US" sz="2800" dirty="0" err="1"/>
              <a:t>dyconex_test_params_class</a:t>
            </a:r>
            <a:r>
              <a:rPr lang="en-US" sz="2800" dirty="0"/>
              <a:t>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30DC22-1F64-4A15-B958-55098ADD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6751"/>
            <a:ext cx="2467111" cy="25564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BA8C14-AC29-7DE3-C29E-2FB3066A25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81"/>
          <a:stretch>
            <a:fillRect/>
          </a:stretch>
        </p:blipFill>
        <p:spPr>
          <a:xfrm>
            <a:off x="2543356" y="1806751"/>
            <a:ext cx="2314620" cy="25564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7F220F-CFEE-E9CD-CE90-46335EEC1A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19"/>
          <a:stretch>
            <a:fillRect/>
          </a:stretch>
        </p:blipFill>
        <p:spPr>
          <a:xfrm>
            <a:off x="4938690" y="1806751"/>
            <a:ext cx="2314619" cy="25564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4C7113-E24F-98C5-C2FA-EFA6BFA2DE6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519"/>
          <a:stretch>
            <a:fillRect/>
          </a:stretch>
        </p:blipFill>
        <p:spPr>
          <a:xfrm>
            <a:off x="7334023" y="1806751"/>
            <a:ext cx="2314618" cy="25657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A62B8C-0AB2-FC85-CBB8-EBAC9045DF1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520"/>
          <a:stretch>
            <a:fillRect/>
          </a:stretch>
        </p:blipFill>
        <p:spPr>
          <a:xfrm>
            <a:off x="9724888" y="1806752"/>
            <a:ext cx="2314617" cy="25657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5F18E12-3E62-FA5C-8E89-41FF8A061335}"/>
              </a:ext>
            </a:extLst>
          </p:cNvPr>
          <p:cNvSpPr txBox="1"/>
          <p:nvPr/>
        </p:nvSpPr>
        <p:spPr>
          <a:xfrm>
            <a:off x="217364" y="4294647"/>
            <a:ext cx="2287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 </a:t>
            </a:r>
            <a:r>
              <a:rPr lang="en-US" dirty="0"/>
              <a:t>more independent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2B3062-44A8-4634-123E-878720F9C1DB}"/>
              </a:ext>
            </a:extLst>
          </p:cNvPr>
          <p:cNvSpPr txBox="1"/>
          <p:nvPr/>
        </p:nvSpPr>
        <p:spPr>
          <a:xfrm>
            <a:off x="763398" y="4915949"/>
            <a:ext cx="87507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info contained in the READ (Markov assumption is reasonable, i.e. Y\perp S | 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cannot use Plasma and Galvanic, Laser is borderline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test on Multibond and Microetch.</a:t>
            </a:r>
          </a:p>
        </p:txBody>
      </p:sp>
    </p:spTree>
    <p:extLst>
      <p:ext uri="{BB962C8B-B14F-4D97-AF65-F5344CB8AC3E}">
        <p14:creationId xmlns:p14="http://schemas.microsoft.com/office/powerpoint/2010/main" val="2477595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018B0-61C5-1C1A-EE91-8BA97189E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4C0E7-9C29-C3FE-EE32-F83918871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HSIC(</a:t>
            </a:r>
            <a:r>
              <a:rPr lang="en-US" sz="2800" dirty="0" err="1"/>
              <a:t>X,m</a:t>
            </a:r>
            <a:r>
              <a:rPr lang="en-US" sz="2800" dirty="0"/>
              <a:t>) assuming Y=m*</a:t>
            </a:r>
            <a:r>
              <a:rPr lang="en-US" sz="2800" dirty="0" err="1"/>
              <a:t>n_cycle</a:t>
            </a:r>
            <a:r>
              <a:rPr lang="en-US" sz="2800" dirty="0"/>
              <a:t>, ds: "dyconex_SX_MuMi_260302"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32B4BC-56C9-00FD-963D-3BFA46EB4454}"/>
              </a:ext>
            </a:extLst>
          </p:cNvPr>
          <p:cNvSpPr txBox="1"/>
          <p:nvPr/>
        </p:nvSpPr>
        <p:spPr>
          <a:xfrm>
            <a:off x="217364" y="4294647"/>
            <a:ext cx="2287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 </a:t>
            </a:r>
            <a:r>
              <a:rPr lang="en-US" dirty="0"/>
              <a:t>more independent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EEAA4F-4332-EF53-8907-04BC18290288}"/>
              </a:ext>
            </a:extLst>
          </p:cNvPr>
          <p:cNvSpPr txBox="1"/>
          <p:nvPr/>
        </p:nvSpPr>
        <p:spPr>
          <a:xfrm>
            <a:off x="763398" y="4915949"/>
            <a:ext cx="63930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 (S: (1526, 106, 12), X: (1526, 173, 12), Y: (1526, 400, 9))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  (S: (  394, 106, 12), X: (   394, 173, 12), Y: (   394, 400, 9))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F1288E-66E4-6D1B-7C36-03CCCCD7A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054" y="1386036"/>
            <a:ext cx="2748595" cy="28481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588D19-603A-2DFA-B428-03A5EA145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386" y="1386035"/>
            <a:ext cx="2748595" cy="284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824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F07A3-32D5-2656-A0C4-0F39DD5C2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2-stage decoder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3B3A8-119F-A2DE-C1BF-67C336FF1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75329" cy="4351338"/>
          </a:xfrm>
        </p:spPr>
        <p:txBody>
          <a:bodyPr>
            <a:normAutofit/>
          </a:bodyPr>
          <a:lstStyle/>
          <a:p>
            <a:r>
              <a:rPr lang="en-US" sz="1800" dirty="0"/>
              <a:t>S: Set</a:t>
            </a:r>
          </a:p>
          <a:p>
            <a:r>
              <a:rPr lang="en-US" sz="1800" dirty="0"/>
              <a:t>X: Read</a:t>
            </a:r>
          </a:p>
          <a:p>
            <a:r>
              <a:rPr lang="en-US" sz="1800" dirty="0"/>
              <a:t>Y: IST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Two masks</a:t>
            </a:r>
          </a:p>
          <a:p>
            <a:pPr marL="0" indent="0">
              <a:buNone/>
            </a:pPr>
            <a:r>
              <a:rPr lang="en-US" sz="1800" dirty="0"/>
              <a:t>1) CA category*: X of category j can only be caused by S of category j</a:t>
            </a:r>
          </a:p>
          <a:p>
            <a:pPr marL="0" indent="0">
              <a:buNone/>
            </a:pPr>
            <a:r>
              <a:rPr lang="en-US" sz="1800" dirty="0"/>
              <a:t>2) Time (CA and SA)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400" dirty="0"/>
              <a:t>* category can be process, {process, occurrence, steps} or any other defined subset of features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C8E257-2244-1B6D-DCAC-90375DF77B81}"/>
              </a:ext>
            </a:extLst>
          </p:cNvPr>
          <p:cNvSpPr/>
          <p:nvPr/>
        </p:nvSpPr>
        <p:spPr bwMode="auto">
          <a:xfrm>
            <a:off x="5794352" y="2452447"/>
            <a:ext cx="1673830" cy="2509091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vert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1EFA315-B01C-0846-1F52-894901E854ED}"/>
              </a:ext>
            </a:extLst>
          </p:cNvPr>
          <p:cNvSpPr/>
          <p:nvPr/>
        </p:nvSpPr>
        <p:spPr bwMode="auto">
          <a:xfrm>
            <a:off x="6074393" y="2883542"/>
            <a:ext cx="1117945" cy="224892"/>
          </a:xfrm>
          <a:prstGeom prst="roundRect">
            <a:avLst/>
          </a:prstGeom>
          <a:solidFill>
            <a:srgbClr val="FFC6C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Self-Attention</a:t>
            </a:r>
            <a:endParaRPr kumimoji="0" lang="en-US" sz="160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4BA0D3-4C48-712B-ED32-D9C9045CEB33}"/>
              </a:ext>
            </a:extLst>
          </p:cNvPr>
          <p:cNvCxnSpPr>
            <a:cxnSpLocks/>
            <a:stCxn id="22" idx="0"/>
            <a:endCxn id="5" idx="2"/>
          </p:cNvCxnSpPr>
          <p:nvPr/>
        </p:nvCxnSpPr>
        <p:spPr bwMode="auto">
          <a:xfrm flipV="1">
            <a:off x="6630845" y="3108434"/>
            <a:ext cx="2521" cy="1512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89AB5E8A-FE81-3B78-891D-71CE71DB14ED}"/>
              </a:ext>
            </a:extLst>
          </p:cNvPr>
          <p:cNvSpPr/>
          <p:nvPr/>
        </p:nvSpPr>
        <p:spPr bwMode="auto">
          <a:xfrm>
            <a:off x="6587358" y="3761596"/>
            <a:ext cx="97060" cy="9706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>
                <a:effectLst/>
                <a:latin typeface="Arial" charset="0"/>
              </a:rPr>
              <a:t>+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81CC98E-5BB0-B0F0-E091-9D16C8E03B69}"/>
              </a:ext>
            </a:extLst>
          </p:cNvPr>
          <p:cNvCxnSpPr>
            <a:cxnSpLocks/>
            <a:stCxn id="5" idx="0"/>
            <a:endCxn id="14" idx="4"/>
          </p:cNvCxnSpPr>
          <p:nvPr/>
        </p:nvCxnSpPr>
        <p:spPr bwMode="auto">
          <a:xfrm flipH="1" flipV="1">
            <a:off x="6630845" y="2737320"/>
            <a:ext cx="2521" cy="14622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72B650-5D37-0DE2-8AFF-2BBA09FBB77E}"/>
              </a:ext>
            </a:extLst>
          </p:cNvPr>
          <p:cNvCxnSpPr>
            <a:cxnSpLocks/>
            <a:stCxn id="12" idx="0"/>
            <a:endCxn id="7" idx="4"/>
          </p:cNvCxnSpPr>
          <p:nvPr/>
        </p:nvCxnSpPr>
        <p:spPr bwMode="auto">
          <a:xfrm flipV="1">
            <a:off x="6635887" y="3858656"/>
            <a:ext cx="1" cy="1319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DCFA283-764D-3EF6-9303-87989C42D726}"/>
              </a:ext>
            </a:extLst>
          </p:cNvPr>
          <p:cNvSpPr/>
          <p:nvPr/>
        </p:nvSpPr>
        <p:spPr bwMode="auto">
          <a:xfrm>
            <a:off x="6607986" y="3630681"/>
            <a:ext cx="45719" cy="4571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CC6CC3FB-4E41-FDDF-BC94-C0F58F964453}"/>
              </a:ext>
            </a:extLst>
          </p:cNvPr>
          <p:cNvCxnSpPr>
            <a:cxnSpLocks/>
            <a:stCxn id="10" idx="2"/>
            <a:endCxn id="14" idx="2"/>
          </p:cNvCxnSpPr>
          <p:nvPr/>
        </p:nvCxnSpPr>
        <p:spPr bwMode="auto">
          <a:xfrm rot="10800000">
            <a:off x="6582316" y="2688791"/>
            <a:ext cx="25671" cy="964751"/>
          </a:xfrm>
          <a:prstGeom prst="bentConnector3">
            <a:avLst>
              <a:gd name="adj1" fmla="val 272202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66C067-3912-ECA1-5F9F-A6577D7AE960}"/>
              </a:ext>
            </a:extLst>
          </p:cNvPr>
          <p:cNvSpPr/>
          <p:nvPr/>
        </p:nvSpPr>
        <p:spPr bwMode="auto">
          <a:xfrm>
            <a:off x="6042919" y="3990572"/>
            <a:ext cx="1185936" cy="236296"/>
          </a:xfrm>
          <a:prstGeom prst="roundRect">
            <a:avLst/>
          </a:prstGeom>
          <a:solidFill>
            <a:srgbClr val="FF747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>
                <a:latin typeface="Arial" charset="0"/>
              </a:rPr>
              <a:t>Cross</a:t>
            </a:r>
            <a:r>
              <a:rPr kumimoji="0" 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-Attention</a:t>
            </a:r>
            <a:endParaRPr kumimoji="0" lang="en-US" sz="100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1DAAFB-B241-A810-E5B3-E9385590EE85}"/>
              </a:ext>
            </a:extLst>
          </p:cNvPr>
          <p:cNvCxnSpPr>
            <a:cxnSpLocks/>
            <a:stCxn id="21" idx="0"/>
            <a:endCxn id="12" idx="2"/>
          </p:cNvCxnSpPr>
          <p:nvPr/>
        </p:nvCxnSpPr>
        <p:spPr bwMode="auto">
          <a:xfrm flipH="1" flipV="1">
            <a:off x="6635887" y="4226868"/>
            <a:ext cx="4450" cy="1438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6DB8B7-5D49-124A-7495-9FE9757AF9B5}"/>
              </a:ext>
            </a:extLst>
          </p:cNvPr>
          <p:cNvSpPr/>
          <p:nvPr/>
        </p:nvSpPr>
        <p:spPr bwMode="auto">
          <a:xfrm>
            <a:off x="6582315" y="2640260"/>
            <a:ext cx="97060" cy="9706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>
                <a:effectLst/>
                <a:latin typeface="Arial" charset="0"/>
              </a:rPr>
              <a:t>+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6B8A21-37B8-0C84-611B-CCDC185AE1F7}"/>
              </a:ext>
            </a:extLst>
          </p:cNvPr>
          <p:cNvCxnSpPr>
            <a:cxnSpLocks/>
            <a:stCxn id="20" idx="3"/>
            <a:endCxn id="21" idx="2"/>
          </p:cNvCxnSpPr>
          <p:nvPr/>
        </p:nvCxnSpPr>
        <p:spPr bwMode="auto">
          <a:xfrm flipV="1">
            <a:off x="6638113" y="4580159"/>
            <a:ext cx="2224" cy="5644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4A663DC0-4F5A-C2D8-C22E-C15437E5511C}"/>
              </a:ext>
            </a:extLst>
          </p:cNvPr>
          <p:cNvSpPr/>
          <p:nvPr/>
        </p:nvSpPr>
        <p:spPr bwMode="auto">
          <a:xfrm>
            <a:off x="6607986" y="4723788"/>
            <a:ext cx="45719" cy="4571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868EFEE-0F1C-233E-B547-E8295962D1DF}"/>
              </a:ext>
            </a:extLst>
          </p:cNvPr>
          <p:cNvCxnSpPr>
            <a:cxnSpLocks/>
            <a:stCxn id="16" idx="6"/>
            <a:endCxn id="7" idx="6"/>
          </p:cNvCxnSpPr>
          <p:nvPr/>
        </p:nvCxnSpPr>
        <p:spPr bwMode="auto">
          <a:xfrm flipV="1">
            <a:off x="6653705" y="3810126"/>
            <a:ext cx="30713" cy="936522"/>
          </a:xfrm>
          <a:prstGeom prst="bentConnector3">
            <a:avLst>
              <a:gd name="adj1" fmla="val 208999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2661A6-25CD-7AE1-490B-90B440E1B3E0}"/>
              </a:ext>
            </a:extLst>
          </p:cNvPr>
          <p:cNvCxnSpPr>
            <a:cxnSpLocks/>
            <a:stCxn id="7" idx="0"/>
            <a:endCxn id="22" idx="2"/>
          </p:cNvCxnSpPr>
          <p:nvPr/>
        </p:nvCxnSpPr>
        <p:spPr bwMode="auto">
          <a:xfrm flipH="1" flipV="1">
            <a:off x="6630845" y="3469152"/>
            <a:ext cx="5043" cy="2924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CF7C90FF-ABFB-1040-A994-57CF1EA0069F}"/>
              </a:ext>
            </a:extLst>
          </p:cNvPr>
          <p:cNvSpPr/>
          <p:nvPr/>
        </p:nvSpPr>
        <p:spPr>
          <a:xfrm>
            <a:off x="5950258" y="4211413"/>
            <a:ext cx="108012" cy="10084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29D9F2A-5B92-E4D0-B983-68E54ABA6496}"/>
              </a:ext>
            </a:extLst>
          </p:cNvPr>
          <p:cNvSpPr/>
          <p:nvPr/>
        </p:nvSpPr>
        <p:spPr bwMode="auto">
          <a:xfrm rot="16200000">
            <a:off x="6459744" y="4794964"/>
            <a:ext cx="356737" cy="105601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vert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Embed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b="1" dirty="0">
                <a:latin typeface="Arial" charset="0"/>
              </a:rPr>
              <a:t>(Learnable)</a:t>
            </a:r>
            <a:endParaRPr kumimoji="0" lang="en-US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70009EE-4C6B-2AC5-4738-7C34544C54A6}"/>
              </a:ext>
            </a:extLst>
          </p:cNvPr>
          <p:cNvSpPr/>
          <p:nvPr/>
        </p:nvSpPr>
        <p:spPr bwMode="auto">
          <a:xfrm>
            <a:off x="6245408" y="4370669"/>
            <a:ext cx="789858" cy="2094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>
                <a:latin typeface="Arial" charset="0"/>
              </a:rPr>
              <a:t>Norm</a:t>
            </a:r>
            <a:endParaRPr kumimoji="0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B5032CA-C76D-0F8B-8925-A75E31A71913}"/>
              </a:ext>
            </a:extLst>
          </p:cNvPr>
          <p:cNvSpPr/>
          <p:nvPr/>
        </p:nvSpPr>
        <p:spPr bwMode="auto">
          <a:xfrm>
            <a:off x="6235916" y="3259662"/>
            <a:ext cx="789858" cy="2094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>
                <a:latin typeface="Arial" charset="0"/>
              </a:rPr>
              <a:t>Norm</a:t>
            </a:r>
            <a:endParaRPr kumimoji="0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50A53FE-B09B-D874-7E79-451D6CC3E7FB}"/>
              </a:ext>
            </a:extLst>
          </p:cNvPr>
          <p:cNvSpPr/>
          <p:nvPr/>
        </p:nvSpPr>
        <p:spPr bwMode="auto">
          <a:xfrm rot="16200000">
            <a:off x="5019513" y="3584401"/>
            <a:ext cx="356735" cy="105601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Embed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AB8B4B50-E771-A7EB-4D41-913C0C8674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4081402"/>
                  </p:ext>
                </p:extLst>
              </p:nvPr>
            </p:nvGraphicFramePr>
            <p:xfrm>
              <a:off x="4669874" y="3184048"/>
              <a:ext cx="1056012" cy="3352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2004">
                      <a:extLst>
                        <a:ext uri="{9D8B030D-6E8A-4147-A177-3AD203B41FA5}">
                          <a16:colId xmlns:a16="http://schemas.microsoft.com/office/drawing/2014/main" val="961406189"/>
                        </a:ext>
                      </a:extLst>
                    </a:gridCol>
                    <a:gridCol w="352004">
                      <a:extLst>
                        <a:ext uri="{9D8B030D-6E8A-4147-A177-3AD203B41FA5}">
                          <a16:colId xmlns:a16="http://schemas.microsoft.com/office/drawing/2014/main" val="873084259"/>
                        </a:ext>
                      </a:extLst>
                    </a:gridCol>
                    <a:gridCol w="352004">
                      <a:extLst>
                        <a:ext uri="{9D8B030D-6E8A-4147-A177-3AD203B41FA5}">
                          <a16:colId xmlns:a16="http://schemas.microsoft.com/office/drawing/2014/main" val="12488724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30477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AB8B4B50-E771-A7EB-4D41-913C0C8674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4081402"/>
                  </p:ext>
                </p:extLst>
              </p:nvPr>
            </p:nvGraphicFramePr>
            <p:xfrm>
              <a:off x="4669874" y="3184048"/>
              <a:ext cx="1056012" cy="3352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2004">
                      <a:extLst>
                        <a:ext uri="{9D8B030D-6E8A-4147-A177-3AD203B41FA5}">
                          <a16:colId xmlns:a16="http://schemas.microsoft.com/office/drawing/2014/main" val="961406189"/>
                        </a:ext>
                      </a:extLst>
                    </a:gridCol>
                    <a:gridCol w="352004">
                      <a:extLst>
                        <a:ext uri="{9D8B030D-6E8A-4147-A177-3AD203B41FA5}">
                          <a16:colId xmlns:a16="http://schemas.microsoft.com/office/drawing/2014/main" val="873084259"/>
                        </a:ext>
                      </a:extLst>
                    </a:gridCol>
                    <a:gridCol w="352004">
                      <a:extLst>
                        <a:ext uri="{9D8B030D-6E8A-4147-A177-3AD203B41FA5}">
                          <a16:colId xmlns:a16="http://schemas.microsoft.com/office/drawing/2014/main" val="124887246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blipFill>
                          <a:blip r:embed="rId2"/>
                          <a:stretch>
                            <a:fillRect l="-1724" t="-1786" r="-203448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blipFill>
                          <a:blip r:embed="rId2"/>
                          <a:stretch>
                            <a:fillRect l="-101724" t="-1786" r="-103448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blipFill>
                          <a:blip r:embed="rId2"/>
                          <a:stretch>
                            <a:fillRect l="-201724" t="-1786" r="-3448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04772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971B8369-2400-3EE5-D502-309D1DC6DF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7802144"/>
                  </p:ext>
                </p:extLst>
              </p:nvPr>
            </p:nvGraphicFramePr>
            <p:xfrm>
              <a:off x="5090344" y="5156617"/>
              <a:ext cx="704008" cy="3352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2004">
                      <a:extLst>
                        <a:ext uri="{9D8B030D-6E8A-4147-A177-3AD203B41FA5}">
                          <a16:colId xmlns:a16="http://schemas.microsoft.com/office/drawing/2014/main" val="961406189"/>
                        </a:ext>
                      </a:extLst>
                    </a:gridCol>
                    <a:gridCol w="352004">
                      <a:extLst>
                        <a:ext uri="{9D8B030D-6E8A-4147-A177-3AD203B41FA5}">
                          <a16:colId xmlns:a16="http://schemas.microsoft.com/office/drawing/2014/main" val="87308425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30477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971B8369-2400-3EE5-D502-309D1DC6DF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7802144"/>
                  </p:ext>
                </p:extLst>
              </p:nvPr>
            </p:nvGraphicFramePr>
            <p:xfrm>
              <a:off x="5090344" y="5156617"/>
              <a:ext cx="704008" cy="3352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2004">
                      <a:extLst>
                        <a:ext uri="{9D8B030D-6E8A-4147-A177-3AD203B41FA5}">
                          <a16:colId xmlns:a16="http://schemas.microsoft.com/office/drawing/2014/main" val="961406189"/>
                        </a:ext>
                      </a:extLst>
                    </a:gridCol>
                    <a:gridCol w="352004">
                      <a:extLst>
                        <a:ext uri="{9D8B030D-6E8A-4147-A177-3AD203B41FA5}">
                          <a16:colId xmlns:a16="http://schemas.microsoft.com/office/drawing/2014/main" val="873084259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blipFill>
                          <a:blip r:embed="rId3"/>
                          <a:stretch>
                            <a:fillRect l="-3448" t="-1786" r="-103448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blipFill>
                          <a:blip r:embed="rId3"/>
                          <a:stretch>
                            <a:fillRect l="-103448" t="-1786" r="-3448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04772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6A751C32-69D3-42B3-6961-936A9D7EC7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4508320"/>
                  </p:ext>
                </p:extLst>
              </p:nvPr>
            </p:nvGraphicFramePr>
            <p:xfrm>
              <a:off x="7386680" y="2046981"/>
              <a:ext cx="704008" cy="3418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2004">
                      <a:extLst>
                        <a:ext uri="{9D8B030D-6E8A-4147-A177-3AD203B41FA5}">
                          <a16:colId xmlns:a16="http://schemas.microsoft.com/office/drawing/2014/main" val="961406189"/>
                        </a:ext>
                      </a:extLst>
                    </a:gridCol>
                    <a:gridCol w="352004">
                      <a:extLst>
                        <a:ext uri="{9D8B030D-6E8A-4147-A177-3AD203B41FA5}">
                          <a16:colId xmlns:a16="http://schemas.microsoft.com/office/drawing/2014/main" val="87308425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30477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6A751C32-69D3-42B3-6961-936A9D7EC7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4508320"/>
                  </p:ext>
                </p:extLst>
              </p:nvPr>
            </p:nvGraphicFramePr>
            <p:xfrm>
              <a:off x="7386680" y="2046981"/>
              <a:ext cx="704008" cy="3418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2004">
                      <a:extLst>
                        <a:ext uri="{9D8B030D-6E8A-4147-A177-3AD203B41FA5}">
                          <a16:colId xmlns:a16="http://schemas.microsoft.com/office/drawing/2014/main" val="961406189"/>
                        </a:ext>
                      </a:extLst>
                    </a:gridCol>
                    <a:gridCol w="352004">
                      <a:extLst>
                        <a:ext uri="{9D8B030D-6E8A-4147-A177-3AD203B41FA5}">
                          <a16:colId xmlns:a16="http://schemas.microsoft.com/office/drawing/2014/main" val="873084259"/>
                        </a:ext>
                      </a:extLst>
                    </a:gridCol>
                  </a:tblGrid>
                  <a:tr h="341884"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blipFill>
                          <a:blip r:embed="rId4"/>
                          <a:stretch>
                            <a:fillRect l="-1695" t="-1754" r="-101695" b="-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blipFill>
                          <a:blip r:embed="rId4"/>
                          <a:stretch>
                            <a:fillRect l="-103448" t="-1754" r="-3448" b="-35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04772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07AE963-A8FD-A049-7DCE-CCAA624D05A1}"/>
              </a:ext>
            </a:extLst>
          </p:cNvPr>
          <p:cNvSpPr/>
          <p:nvPr/>
        </p:nvSpPr>
        <p:spPr bwMode="auto">
          <a:xfrm rot="16200000">
            <a:off x="6510717" y="1686974"/>
            <a:ext cx="234147" cy="105601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vert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b="1" dirty="0">
                <a:latin typeface="Arial" charset="0"/>
              </a:rPr>
              <a:t>De-embed</a:t>
            </a:r>
            <a:endParaRPr kumimoji="0" lang="en-US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131AE29-8200-F76B-1714-F08BDD7E3A93}"/>
              </a:ext>
            </a:extLst>
          </p:cNvPr>
          <p:cNvCxnSpPr>
            <a:cxnSpLocks/>
            <a:stCxn id="14" idx="0"/>
            <a:endCxn id="27" idx="1"/>
          </p:cNvCxnSpPr>
          <p:nvPr/>
        </p:nvCxnSpPr>
        <p:spPr bwMode="auto">
          <a:xfrm flipH="1" flipV="1">
            <a:off x="6627791" y="2332053"/>
            <a:ext cx="3054" cy="3082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FB9BC13-6D1D-B789-05B9-A4BC615DBF4E}"/>
              </a:ext>
            </a:extLst>
          </p:cNvPr>
          <p:cNvSpPr/>
          <p:nvPr/>
        </p:nvSpPr>
        <p:spPr bwMode="auto">
          <a:xfrm>
            <a:off x="8846523" y="2452447"/>
            <a:ext cx="1673830" cy="2509091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vert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8EAB8DC-4DC4-20B7-BF0D-8CCA9BE4E8FA}"/>
              </a:ext>
            </a:extLst>
          </p:cNvPr>
          <p:cNvSpPr/>
          <p:nvPr/>
        </p:nvSpPr>
        <p:spPr bwMode="auto">
          <a:xfrm>
            <a:off x="9126564" y="2883542"/>
            <a:ext cx="1117945" cy="224892"/>
          </a:xfrm>
          <a:prstGeom prst="roundRect">
            <a:avLst/>
          </a:prstGeom>
          <a:solidFill>
            <a:srgbClr val="C5D3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Self-Attention</a:t>
            </a:r>
            <a:endParaRPr kumimoji="0" lang="en-US" sz="160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EA9579D-2485-D35A-60A5-F7582A3A2EF9}"/>
              </a:ext>
            </a:extLst>
          </p:cNvPr>
          <p:cNvCxnSpPr>
            <a:cxnSpLocks/>
            <a:stCxn id="47" idx="0"/>
            <a:endCxn id="30" idx="2"/>
          </p:cNvCxnSpPr>
          <p:nvPr/>
        </p:nvCxnSpPr>
        <p:spPr bwMode="auto">
          <a:xfrm flipV="1">
            <a:off x="9683016" y="3108434"/>
            <a:ext cx="2521" cy="1512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8DE87348-A444-F1D4-F392-2C954DA59466}"/>
              </a:ext>
            </a:extLst>
          </p:cNvPr>
          <p:cNvSpPr/>
          <p:nvPr/>
        </p:nvSpPr>
        <p:spPr bwMode="auto">
          <a:xfrm>
            <a:off x="9639529" y="3761596"/>
            <a:ext cx="97060" cy="9706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>
                <a:effectLst/>
                <a:latin typeface="Arial" charset="0"/>
              </a:rPr>
              <a:t>+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CCA8D00-D215-E188-ABD9-F888AE831F2A}"/>
              </a:ext>
            </a:extLst>
          </p:cNvPr>
          <p:cNvCxnSpPr>
            <a:cxnSpLocks/>
            <a:stCxn id="30" idx="0"/>
            <a:endCxn id="39" idx="4"/>
          </p:cNvCxnSpPr>
          <p:nvPr/>
        </p:nvCxnSpPr>
        <p:spPr bwMode="auto">
          <a:xfrm flipH="1" flipV="1">
            <a:off x="9683016" y="2737320"/>
            <a:ext cx="2521" cy="14622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92DC666-4C37-9050-12EA-B41FAF886406}"/>
              </a:ext>
            </a:extLst>
          </p:cNvPr>
          <p:cNvCxnSpPr>
            <a:cxnSpLocks/>
            <a:stCxn id="37" idx="0"/>
            <a:endCxn id="32" idx="4"/>
          </p:cNvCxnSpPr>
          <p:nvPr/>
        </p:nvCxnSpPr>
        <p:spPr bwMode="auto">
          <a:xfrm flipV="1">
            <a:off x="9688058" y="3858656"/>
            <a:ext cx="1" cy="1319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F93F6E27-4374-BB4F-E385-6D6A60DD8B45}"/>
              </a:ext>
            </a:extLst>
          </p:cNvPr>
          <p:cNvSpPr/>
          <p:nvPr/>
        </p:nvSpPr>
        <p:spPr bwMode="auto">
          <a:xfrm>
            <a:off x="9660157" y="3630681"/>
            <a:ext cx="45719" cy="4571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66CBCF07-7D4A-03F7-67A7-7742C141CBB4}"/>
              </a:ext>
            </a:extLst>
          </p:cNvPr>
          <p:cNvCxnSpPr>
            <a:cxnSpLocks/>
            <a:stCxn id="35" idx="2"/>
            <a:endCxn id="39" idx="2"/>
          </p:cNvCxnSpPr>
          <p:nvPr/>
        </p:nvCxnSpPr>
        <p:spPr bwMode="auto">
          <a:xfrm rot="10800000">
            <a:off x="9634487" y="2688791"/>
            <a:ext cx="25671" cy="964751"/>
          </a:xfrm>
          <a:prstGeom prst="bentConnector3">
            <a:avLst>
              <a:gd name="adj1" fmla="val 272202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13F746D-9770-B24F-A63C-C8EBCF4E6075}"/>
              </a:ext>
            </a:extLst>
          </p:cNvPr>
          <p:cNvSpPr/>
          <p:nvPr/>
        </p:nvSpPr>
        <p:spPr bwMode="auto">
          <a:xfrm>
            <a:off x="9095090" y="3990572"/>
            <a:ext cx="1185936" cy="236296"/>
          </a:xfrm>
          <a:prstGeom prst="roundRect">
            <a:avLst/>
          </a:prstGeom>
          <a:solidFill>
            <a:srgbClr val="63A4F7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>
                <a:latin typeface="Arial" charset="0"/>
              </a:rPr>
              <a:t>Cross</a:t>
            </a:r>
            <a:r>
              <a:rPr kumimoji="0" 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-Attention</a:t>
            </a:r>
            <a:endParaRPr kumimoji="0" lang="en-US" sz="100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F909B83-70BB-134A-E264-9489E3B910CC}"/>
              </a:ext>
            </a:extLst>
          </p:cNvPr>
          <p:cNvCxnSpPr>
            <a:cxnSpLocks/>
            <a:stCxn id="46" idx="0"/>
            <a:endCxn id="37" idx="2"/>
          </p:cNvCxnSpPr>
          <p:nvPr/>
        </p:nvCxnSpPr>
        <p:spPr bwMode="auto">
          <a:xfrm flipH="1" flipV="1">
            <a:off x="9688058" y="4226868"/>
            <a:ext cx="4450" cy="1438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AAF37290-12EB-0831-CDBA-D6461CDDFD46}"/>
              </a:ext>
            </a:extLst>
          </p:cNvPr>
          <p:cNvSpPr/>
          <p:nvPr/>
        </p:nvSpPr>
        <p:spPr bwMode="auto">
          <a:xfrm>
            <a:off x="9634486" y="2640260"/>
            <a:ext cx="97060" cy="9706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>
                <a:effectLst/>
                <a:latin typeface="Arial" charset="0"/>
              </a:rPr>
              <a:t>+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3078F4B-6EE1-EEDE-C8A1-D476076A4184}"/>
              </a:ext>
            </a:extLst>
          </p:cNvPr>
          <p:cNvCxnSpPr>
            <a:cxnSpLocks/>
            <a:stCxn id="45" idx="3"/>
            <a:endCxn id="46" idx="2"/>
          </p:cNvCxnSpPr>
          <p:nvPr/>
        </p:nvCxnSpPr>
        <p:spPr bwMode="auto">
          <a:xfrm flipV="1">
            <a:off x="9690284" y="4580159"/>
            <a:ext cx="2224" cy="5644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4970B811-4B9A-4510-5C3B-1F896BAF7794}"/>
              </a:ext>
            </a:extLst>
          </p:cNvPr>
          <p:cNvSpPr/>
          <p:nvPr/>
        </p:nvSpPr>
        <p:spPr bwMode="auto">
          <a:xfrm>
            <a:off x="9660157" y="4723788"/>
            <a:ext cx="45719" cy="4571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992EDEF6-D2F1-AB53-A8F0-02460BCD8D72}"/>
              </a:ext>
            </a:extLst>
          </p:cNvPr>
          <p:cNvCxnSpPr>
            <a:cxnSpLocks/>
            <a:stCxn id="41" idx="6"/>
            <a:endCxn id="32" idx="6"/>
          </p:cNvCxnSpPr>
          <p:nvPr/>
        </p:nvCxnSpPr>
        <p:spPr bwMode="auto">
          <a:xfrm flipV="1">
            <a:off x="9705876" y="3810126"/>
            <a:ext cx="30713" cy="936522"/>
          </a:xfrm>
          <a:prstGeom prst="bentConnector3">
            <a:avLst>
              <a:gd name="adj1" fmla="val 208999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9A157C8-84B2-4EFB-826B-88A2C3552695}"/>
              </a:ext>
            </a:extLst>
          </p:cNvPr>
          <p:cNvCxnSpPr>
            <a:cxnSpLocks/>
            <a:stCxn id="32" idx="0"/>
            <a:endCxn id="47" idx="2"/>
          </p:cNvCxnSpPr>
          <p:nvPr/>
        </p:nvCxnSpPr>
        <p:spPr bwMode="auto">
          <a:xfrm flipH="1" flipV="1">
            <a:off x="9683016" y="3469152"/>
            <a:ext cx="5043" cy="2924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B92A2082-A8B6-CFF2-F902-A5A61B60FCBB}"/>
              </a:ext>
            </a:extLst>
          </p:cNvPr>
          <p:cNvSpPr/>
          <p:nvPr/>
        </p:nvSpPr>
        <p:spPr>
          <a:xfrm>
            <a:off x="9002429" y="4211413"/>
            <a:ext cx="108012" cy="10084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F6A42A1-BCBD-0FE7-48F8-51592DC5D30A}"/>
              </a:ext>
            </a:extLst>
          </p:cNvPr>
          <p:cNvSpPr/>
          <p:nvPr/>
        </p:nvSpPr>
        <p:spPr bwMode="auto">
          <a:xfrm rot="16200000">
            <a:off x="9511915" y="4794964"/>
            <a:ext cx="356737" cy="105601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vert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Embed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b="1" dirty="0">
                <a:latin typeface="Arial" charset="0"/>
              </a:rPr>
              <a:t>(Learnable)</a:t>
            </a:r>
            <a:endParaRPr kumimoji="0" lang="en-US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97CCEDB-0662-1DEC-1480-AE21F2344699}"/>
              </a:ext>
            </a:extLst>
          </p:cNvPr>
          <p:cNvSpPr/>
          <p:nvPr/>
        </p:nvSpPr>
        <p:spPr bwMode="auto">
          <a:xfrm>
            <a:off x="9297579" y="4370669"/>
            <a:ext cx="789858" cy="2094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>
                <a:latin typeface="Arial" charset="0"/>
              </a:rPr>
              <a:t>Norm</a:t>
            </a:r>
            <a:endParaRPr kumimoji="0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90308A2-00A8-CF36-A95E-5A4945CCB27F}"/>
              </a:ext>
            </a:extLst>
          </p:cNvPr>
          <p:cNvSpPr/>
          <p:nvPr/>
        </p:nvSpPr>
        <p:spPr bwMode="auto">
          <a:xfrm>
            <a:off x="9288087" y="3259662"/>
            <a:ext cx="789858" cy="2094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>
                <a:latin typeface="Arial" charset="0"/>
              </a:rPr>
              <a:t>Norm</a:t>
            </a:r>
            <a:endParaRPr kumimoji="0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B39FAF9-E520-9A68-889A-90842B7EBBB9}"/>
              </a:ext>
            </a:extLst>
          </p:cNvPr>
          <p:cNvSpPr/>
          <p:nvPr/>
        </p:nvSpPr>
        <p:spPr bwMode="auto">
          <a:xfrm rot="16200000">
            <a:off x="9562888" y="1686974"/>
            <a:ext cx="234147" cy="105601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vert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b="1" dirty="0">
                <a:latin typeface="Arial" charset="0"/>
              </a:rPr>
              <a:t>De-embed</a:t>
            </a:r>
            <a:endParaRPr kumimoji="0" lang="en-US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9F98ED0-7E42-C2A3-087D-3F979C9F92E8}"/>
              </a:ext>
            </a:extLst>
          </p:cNvPr>
          <p:cNvCxnSpPr>
            <a:cxnSpLocks/>
            <a:stCxn id="39" idx="0"/>
            <a:endCxn id="48" idx="1"/>
          </p:cNvCxnSpPr>
          <p:nvPr/>
        </p:nvCxnSpPr>
        <p:spPr bwMode="auto">
          <a:xfrm flipH="1" flipV="1">
            <a:off x="9679962" y="2332053"/>
            <a:ext cx="3054" cy="3082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B24E677-4494-DBF4-D8EB-5ABBCE821B48}"/>
              </a:ext>
            </a:extLst>
          </p:cNvPr>
          <p:cNvCxnSpPr>
            <a:cxnSpLocks/>
            <a:stCxn id="48" idx="2"/>
            <a:endCxn id="51" idx="1"/>
          </p:cNvCxnSpPr>
          <p:nvPr/>
        </p:nvCxnSpPr>
        <p:spPr bwMode="auto">
          <a:xfrm>
            <a:off x="10207967" y="2214978"/>
            <a:ext cx="308488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D13BE336-0AB7-3218-A115-BEC48CFD84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9066571"/>
                  </p:ext>
                </p:extLst>
              </p:nvPr>
            </p:nvGraphicFramePr>
            <p:xfrm>
              <a:off x="10516455" y="2044037"/>
              <a:ext cx="704008" cy="3418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2004">
                      <a:extLst>
                        <a:ext uri="{9D8B030D-6E8A-4147-A177-3AD203B41FA5}">
                          <a16:colId xmlns:a16="http://schemas.microsoft.com/office/drawing/2014/main" val="961406189"/>
                        </a:ext>
                      </a:extLst>
                    </a:gridCol>
                    <a:gridCol w="352004">
                      <a:extLst>
                        <a:ext uri="{9D8B030D-6E8A-4147-A177-3AD203B41FA5}">
                          <a16:colId xmlns:a16="http://schemas.microsoft.com/office/drawing/2014/main" val="87308425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30477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D13BE336-0AB7-3218-A115-BEC48CFD84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9066571"/>
                  </p:ext>
                </p:extLst>
              </p:nvPr>
            </p:nvGraphicFramePr>
            <p:xfrm>
              <a:off x="10516455" y="2044037"/>
              <a:ext cx="704008" cy="3418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2004">
                      <a:extLst>
                        <a:ext uri="{9D8B030D-6E8A-4147-A177-3AD203B41FA5}">
                          <a16:colId xmlns:a16="http://schemas.microsoft.com/office/drawing/2014/main" val="961406189"/>
                        </a:ext>
                      </a:extLst>
                    </a:gridCol>
                    <a:gridCol w="352004">
                      <a:extLst>
                        <a:ext uri="{9D8B030D-6E8A-4147-A177-3AD203B41FA5}">
                          <a16:colId xmlns:a16="http://schemas.microsoft.com/office/drawing/2014/main" val="873084259"/>
                        </a:ext>
                      </a:extLst>
                    </a:gridCol>
                  </a:tblGrid>
                  <a:tr h="341884"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blipFill>
                          <a:blip r:embed="rId5"/>
                          <a:stretch>
                            <a:fillRect l="-1724" t="-1754" r="-103448" b="-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blipFill>
                          <a:blip r:embed="rId5"/>
                          <a:stretch>
                            <a:fillRect l="-101724" t="-1754" r="-3448" b="-35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04772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5352357-1B8F-2A23-772B-9F30256C81BF}"/>
              </a:ext>
            </a:extLst>
          </p:cNvPr>
          <p:cNvCxnSpPr>
            <a:cxnSpLocks/>
            <a:stCxn id="23" idx="2"/>
            <a:endCxn id="12" idx="1"/>
          </p:cNvCxnSpPr>
          <p:nvPr/>
        </p:nvCxnSpPr>
        <p:spPr bwMode="auto">
          <a:xfrm flipV="1">
            <a:off x="5725886" y="4108720"/>
            <a:ext cx="317033" cy="36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878D580-17E6-5116-898A-60372F65F3F7}"/>
              </a:ext>
            </a:extLst>
          </p:cNvPr>
          <p:cNvCxnSpPr>
            <a:cxnSpLocks/>
            <a:stCxn id="24" idx="2"/>
            <a:endCxn id="23" idx="3"/>
          </p:cNvCxnSpPr>
          <p:nvPr/>
        </p:nvCxnSpPr>
        <p:spPr bwMode="auto">
          <a:xfrm>
            <a:off x="5197880" y="3519328"/>
            <a:ext cx="1" cy="4147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23D4F72-AD11-7BCA-BF1F-B8A804875DDA}"/>
              </a:ext>
            </a:extLst>
          </p:cNvPr>
          <p:cNvSpPr/>
          <p:nvPr/>
        </p:nvSpPr>
        <p:spPr bwMode="auto">
          <a:xfrm rot="16200000">
            <a:off x="8059360" y="3580714"/>
            <a:ext cx="356735" cy="105601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Embed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F18CF6A-E41E-0EE1-7444-26CFFBE14C9B}"/>
              </a:ext>
            </a:extLst>
          </p:cNvPr>
          <p:cNvCxnSpPr>
            <a:cxnSpLocks/>
            <a:stCxn id="54" idx="2"/>
            <a:endCxn id="37" idx="1"/>
          </p:cNvCxnSpPr>
          <p:nvPr/>
        </p:nvCxnSpPr>
        <p:spPr bwMode="auto">
          <a:xfrm>
            <a:off x="8765733" y="4108719"/>
            <a:ext cx="329357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9A1E0EEE-6496-B2B8-CE99-42D53D6FA6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1269124"/>
                  </p:ext>
                </p:extLst>
              </p:nvPr>
            </p:nvGraphicFramePr>
            <p:xfrm>
              <a:off x="8142515" y="5155329"/>
              <a:ext cx="704008" cy="3352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2004">
                      <a:extLst>
                        <a:ext uri="{9D8B030D-6E8A-4147-A177-3AD203B41FA5}">
                          <a16:colId xmlns:a16="http://schemas.microsoft.com/office/drawing/2014/main" val="961406189"/>
                        </a:ext>
                      </a:extLst>
                    </a:gridCol>
                    <a:gridCol w="352004">
                      <a:extLst>
                        <a:ext uri="{9D8B030D-6E8A-4147-A177-3AD203B41FA5}">
                          <a16:colId xmlns:a16="http://schemas.microsoft.com/office/drawing/2014/main" val="87308425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30477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9A1E0EEE-6496-B2B8-CE99-42D53D6FA6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1269124"/>
                  </p:ext>
                </p:extLst>
              </p:nvPr>
            </p:nvGraphicFramePr>
            <p:xfrm>
              <a:off x="8142515" y="5155329"/>
              <a:ext cx="704008" cy="3352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2004">
                      <a:extLst>
                        <a:ext uri="{9D8B030D-6E8A-4147-A177-3AD203B41FA5}">
                          <a16:colId xmlns:a16="http://schemas.microsoft.com/office/drawing/2014/main" val="961406189"/>
                        </a:ext>
                      </a:extLst>
                    </a:gridCol>
                    <a:gridCol w="352004">
                      <a:extLst>
                        <a:ext uri="{9D8B030D-6E8A-4147-A177-3AD203B41FA5}">
                          <a16:colId xmlns:a16="http://schemas.microsoft.com/office/drawing/2014/main" val="873084259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blipFill>
                          <a:blip r:embed="rId6"/>
                          <a:stretch>
                            <a:fillRect l="-1695" t="-1786" r="-101695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blipFill>
                          <a:blip r:embed="rId6"/>
                          <a:stretch>
                            <a:fillRect l="-103448" t="-1786" r="-3448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04772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0044719-7129-1F04-ABD1-CEDAD33019C8}"/>
              </a:ext>
            </a:extLst>
          </p:cNvPr>
          <p:cNvCxnSpPr>
            <a:cxnSpLocks/>
            <a:stCxn id="25" idx="3"/>
            <a:endCxn id="20" idx="0"/>
          </p:cNvCxnSpPr>
          <p:nvPr/>
        </p:nvCxnSpPr>
        <p:spPr bwMode="auto">
          <a:xfrm flipV="1">
            <a:off x="5794352" y="5322969"/>
            <a:ext cx="315756" cy="12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C26C8B7-A795-21C1-7597-D2DDFB77E650}"/>
              </a:ext>
            </a:extLst>
          </p:cNvPr>
          <p:cNvCxnSpPr>
            <a:cxnSpLocks/>
            <a:stCxn id="56" idx="3"/>
            <a:endCxn id="45" idx="0"/>
          </p:cNvCxnSpPr>
          <p:nvPr/>
        </p:nvCxnSpPr>
        <p:spPr bwMode="auto">
          <a:xfrm>
            <a:off x="8846523" y="5322969"/>
            <a:ext cx="31575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0B31CFA-79CA-F93B-61B9-867DC608FD49}"/>
              </a:ext>
            </a:extLst>
          </p:cNvPr>
          <p:cNvCxnSpPr>
            <a:cxnSpLocks/>
            <a:stCxn id="27" idx="2"/>
            <a:endCxn id="26" idx="1"/>
          </p:cNvCxnSpPr>
          <p:nvPr/>
        </p:nvCxnSpPr>
        <p:spPr bwMode="auto">
          <a:xfrm>
            <a:off x="7155796" y="2214978"/>
            <a:ext cx="230884" cy="29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711B1DF5-F6C4-2787-FE98-9E074C5B7D97}"/>
              </a:ext>
            </a:extLst>
          </p:cNvPr>
          <p:cNvCxnSpPr>
            <a:cxnSpLocks/>
            <a:stCxn id="26" idx="3"/>
            <a:endCxn id="54" idx="3"/>
          </p:cNvCxnSpPr>
          <p:nvPr/>
        </p:nvCxnSpPr>
        <p:spPr bwMode="auto">
          <a:xfrm>
            <a:off x="8090688" y="2217923"/>
            <a:ext cx="147040" cy="171242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012259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47FDB-11A5-BEB6-D88B-3442B45A3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056B09-5CD1-665D-D767-95B93B6FB807}"/>
              </a:ext>
            </a:extLst>
          </p:cNvPr>
          <p:cNvSpPr txBox="1"/>
          <p:nvPr/>
        </p:nvSpPr>
        <p:spPr>
          <a:xfrm>
            <a:off x="2049293" y="1862148"/>
            <a:ext cx="1282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Masks OFF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83BF0-E6E3-AF25-FC72-9DDE89C14B3E}"/>
              </a:ext>
            </a:extLst>
          </p:cNvPr>
          <p:cNvSpPr txBox="1"/>
          <p:nvPr/>
        </p:nvSpPr>
        <p:spPr>
          <a:xfrm>
            <a:off x="8477197" y="1862148"/>
            <a:ext cx="1202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Masks 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0A9BDDD-0126-3E41-E2C6-509B238C5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152" y="2231480"/>
            <a:ext cx="4144251" cy="41324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E655AB7-DFE8-FE30-E1A9-3DEAF2870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03" y="2231479"/>
            <a:ext cx="4232359" cy="422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164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C6FA6-D18A-3089-B736-499B781D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90AE3-16DD-DF11-3818-291CB655A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Prediction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833571-BFCA-9550-E87A-7CE92C560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126" y="1835286"/>
            <a:ext cx="3506066" cy="25938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7A8B23-2FE6-548E-B60A-B6F8F12DB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314" y="1835286"/>
            <a:ext cx="3255677" cy="25938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60078D-7DE3-D255-6607-05AC9ED1FD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1"/>
          <a:stretch>
            <a:fillRect/>
          </a:stretch>
        </p:blipFill>
        <p:spPr>
          <a:xfrm>
            <a:off x="370576" y="2585662"/>
            <a:ext cx="4389762" cy="13255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356A3A5-DC2F-C9A7-6948-FF11BAE2AFAA}"/>
              </a:ext>
            </a:extLst>
          </p:cNvPr>
          <p:cNvSpPr txBox="1"/>
          <p:nvPr/>
        </p:nvSpPr>
        <p:spPr>
          <a:xfrm>
            <a:off x="466927" y="2159540"/>
            <a:ext cx="1282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Masks OFF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63D524-6E2E-08EF-6978-916A425AEE78}"/>
              </a:ext>
            </a:extLst>
          </p:cNvPr>
          <p:cNvSpPr txBox="1"/>
          <p:nvPr/>
        </p:nvSpPr>
        <p:spPr>
          <a:xfrm>
            <a:off x="507001" y="4358914"/>
            <a:ext cx="1202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Masks 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570820-ED8B-9860-3807-5A1F717788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638" y="4573699"/>
            <a:ext cx="3931042" cy="19771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CC49CC1-07A4-6B47-890A-D8AF0FA047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576" y="4953754"/>
            <a:ext cx="4389762" cy="12170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0E8C0F1-9B71-5270-F417-A97E6338C3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8138" y="4358914"/>
            <a:ext cx="3106975" cy="228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91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4A8A8-4B3F-5E2E-30F8-3DCFBBF6E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157BE-52D8-7607-B561-D5CC2A48E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model is trained on real data with different input lengths. You must define your input, i.e. your recipe.</a:t>
            </a:r>
          </a:p>
          <a:p>
            <a:r>
              <a:rPr lang="en-US" sz="2000" dirty="0"/>
              <a:t>The prediction is a time-series, you need to define an objective function.</a:t>
            </a:r>
          </a:p>
          <a:p>
            <a:r>
              <a:rPr lang="en-US" sz="2000" dirty="0"/>
              <a:t>Define input bounds: parameters are normalized; therefore you could use [0,1] and never go beyond the maximum observed value</a:t>
            </a:r>
          </a:p>
          <a:p>
            <a:r>
              <a:rPr lang="en-US" sz="2000" dirty="0"/>
              <a:t>Do not worry too much about the surrogate, take a checkpoint and test your optimization</a:t>
            </a:r>
          </a:p>
          <a:p>
            <a:r>
              <a:rPr lang="en-US" sz="2000" dirty="0"/>
              <a:t>Can you do better than the best sample? If yes, how do the parameters change?</a:t>
            </a:r>
          </a:p>
          <a:p>
            <a:r>
              <a:rPr lang="en-US" sz="2000" dirty="0"/>
              <a:t>Can we optimize one parameter to </a:t>
            </a:r>
            <a:r>
              <a:rPr lang="en-US" sz="2000"/>
              <a:t>be minimized as well?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89260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</Words>
  <Application>Microsoft Office PowerPoint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Wingdings</vt:lpstr>
      <vt:lpstr>Office Theme</vt:lpstr>
      <vt:lpstr>CausaliT 4 Industry</vt:lpstr>
      <vt:lpstr>HSIC(X,m) assuming Y=m*n_cycle, ds: "dyconex_test_params_class"</vt:lpstr>
      <vt:lpstr>HSIC(X,m) assuming Y=m*n_cycle, ds: "dyconex_SX_MuMi_260302"</vt:lpstr>
      <vt:lpstr>2-stage decoder</vt:lpstr>
      <vt:lpstr>Training</vt:lpstr>
      <vt:lpstr>Test Prediction</vt:lpstr>
      <vt:lpstr>Your 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Scipione  Francesco</dc:creator>
  <cp:lastModifiedBy>Scipione  Francesco</cp:lastModifiedBy>
  <cp:revision>2</cp:revision>
  <dcterms:created xsi:type="dcterms:W3CDTF">2026-03-02T09:30:13Z</dcterms:created>
  <dcterms:modified xsi:type="dcterms:W3CDTF">2026-03-03T13:42:48Z</dcterms:modified>
</cp:coreProperties>
</file>